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20"/>
  </p:notesMasterIdLst>
  <p:sldIdLst>
    <p:sldId id="256" r:id="rId2"/>
    <p:sldId id="261" r:id="rId3"/>
    <p:sldId id="263" r:id="rId4"/>
    <p:sldId id="258" r:id="rId5"/>
    <p:sldId id="259" r:id="rId6"/>
    <p:sldId id="260" r:id="rId7"/>
    <p:sldId id="265" r:id="rId8"/>
    <p:sldId id="266" r:id="rId9"/>
    <p:sldId id="290" r:id="rId10"/>
    <p:sldId id="291" r:id="rId11"/>
    <p:sldId id="293" r:id="rId12"/>
    <p:sldId id="294" r:id="rId13"/>
    <p:sldId id="295" r:id="rId14"/>
    <p:sldId id="296" r:id="rId15"/>
    <p:sldId id="292" r:id="rId16"/>
    <p:sldId id="297" r:id="rId17"/>
    <p:sldId id="298" r:id="rId18"/>
    <p:sldId id="29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191" autoAdjust="0"/>
  </p:normalViewPr>
  <p:slideViewPr>
    <p:cSldViewPr snapToGrid="0">
      <p:cViewPr varScale="1">
        <p:scale>
          <a:sx n="64" d="100"/>
          <a:sy n="64" d="100"/>
        </p:scale>
        <p:origin x="97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BEE102-0D08-424F-9084-93F00D3F9126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F568A-5156-4924-A44B-199656C77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875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568A-5156-4924-A44B-199656C77A5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079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5BA46-4D91-B94D-4954-5555295A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15314-5B38-7F60-2E88-60C7CEC96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88CCF-E515-52DD-2D30-2180FA703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F9B34-9393-A676-A363-71E299B90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568A-5156-4924-A44B-199656C77A5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22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7BA99-11F8-B345-5416-5CEA04B2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3A921-A3A6-641C-BD39-5FEA00446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2EE77-E603-6F70-827D-84738360B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A0A88-11D4-AF3B-E19C-18F4B3306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568A-5156-4924-A44B-199656C77A5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226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FB54C-CCAF-BD86-D726-38C59B554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8A3F8-6DAB-2254-1632-02AF7966D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E20D9-59E3-34D9-EF86-943028E9A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FB9BF-5CFC-1CAA-84A6-9A4097948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568A-5156-4924-A44B-199656C77A5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018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568A-5156-4924-A44B-199656C77A5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643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FF00A-7DA1-7845-E0F3-9D89728D9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1A4B5-E715-34BD-1B2D-64AEC1899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81B6E-2A72-2746-C027-1792EA276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6AA99-AF96-8B5D-D262-AB21E0339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568A-5156-4924-A44B-199656C77A5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493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A135-ACAF-95F4-556E-C4CC4F38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C7873-072C-82C8-6973-E684EABDC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4A86A-4805-A9CE-70EF-1DB7F34A3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4D0F6-AEE9-4915-0DA8-2CEA76663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568A-5156-4924-A44B-199656C77A5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095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92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39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57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335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32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570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72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26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56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988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46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C054E34-C272-421A-B1E4-D5D9AE17869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075A3E60-43D4-4E0C-97F3-9D3BC839D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799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21CA6-0595-3EE3-ADBB-BAB223F75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2F649-B392-4533-D26D-8FEA83F68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5233" y="6241454"/>
            <a:ext cx="6527917" cy="511614"/>
          </a:xfrm>
        </p:spPr>
        <p:txBody>
          <a:bodyPr>
            <a:normAutofit fontScale="25000" lnSpcReduction="20000"/>
          </a:bodyPr>
          <a:lstStyle/>
          <a:p>
            <a:r>
              <a:rPr lang="en-IN" sz="5600" dirty="0">
                <a:solidFill>
                  <a:srgbClr val="00B0F0"/>
                </a:solidFill>
              </a:rPr>
              <a:t>PRESENTED BY : SHRADDHA KAMBLE </a:t>
            </a:r>
          </a:p>
          <a:p>
            <a:r>
              <a:rPr lang="en-IN" sz="5600" dirty="0">
                <a:solidFill>
                  <a:srgbClr val="00B0F0"/>
                </a:solidFill>
              </a:rPr>
              <a:t>GUIDED BY:  ABHISHEK WAHWAL</a:t>
            </a:r>
          </a:p>
          <a:p>
            <a:endParaRPr lang="en-IN" dirty="0"/>
          </a:p>
        </p:txBody>
      </p:sp>
      <p:pic>
        <p:nvPicPr>
          <p:cNvPr id="1026" name="Picture 2" descr="Seoul Bike Hourly Rentals &amp; Weather (2017–2018) | Kaggle">
            <a:extLst>
              <a:ext uri="{FF2B5EF4-FFF2-40B4-BE49-F238E27FC236}">
                <a16:creationId xmlns:a16="http://schemas.microsoft.com/office/drawing/2014/main" id="{39033854-7CFD-7049-6655-FB8C68FBF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7" y="104932"/>
            <a:ext cx="10842751" cy="609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713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3B07-4E86-E346-AA62-DFF971E0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091" y="0"/>
            <a:ext cx="10025421" cy="67455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Arno Pro" panose="02020502040506020403" pitchFamily="18" charset="0"/>
              </a:rPr>
              <a:t>Summary of my project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60D015-F5BB-7C5B-B9FD-CF0E74E764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4455" y="615567"/>
            <a:ext cx="11017770" cy="640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/>
              <a:t> The dataset contains hourly bike rental data for one year.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/>
              <a:t> It includes weather, time, and seasonal features that influence demand.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/>
              <a:t> The main target variable is Rented Bike Count. </a:t>
            </a:r>
          </a:p>
          <a:p>
            <a:pPr marL="0" indent="0" algn="ctr">
              <a:buNone/>
            </a:pPr>
            <a:r>
              <a:rPr lang="en-US" sz="2000" b="1" dirty="0"/>
              <a:t>Key Points</a:t>
            </a:r>
          </a:p>
          <a:p>
            <a:r>
              <a:rPr lang="en-US" sz="2000" dirty="0"/>
              <a:t> </a:t>
            </a:r>
            <a:r>
              <a:rPr lang="en-US" sz="2000" b="1" dirty="0"/>
              <a:t>Time Effect:</a:t>
            </a:r>
            <a:br>
              <a:rPr lang="en-US" sz="2000" dirty="0"/>
            </a:br>
            <a:r>
              <a:rPr lang="en-US" sz="2000" dirty="0"/>
              <a:t>Rentals are highest during </a:t>
            </a:r>
            <a:r>
              <a:rPr lang="en-US" sz="2000" b="1" dirty="0"/>
              <a:t>morning and evening (office commute hours)</a:t>
            </a:r>
            <a:r>
              <a:rPr lang="en-US" sz="2000" dirty="0"/>
              <a:t>. </a:t>
            </a:r>
          </a:p>
          <a:p>
            <a:r>
              <a:rPr lang="en-US" sz="2000" dirty="0"/>
              <a:t> </a:t>
            </a:r>
            <a:r>
              <a:rPr lang="en-US" sz="2000" b="1" dirty="0"/>
              <a:t>Temperature:</a:t>
            </a:r>
            <a:br>
              <a:rPr lang="en-US" sz="2000" dirty="0"/>
            </a:br>
            <a:r>
              <a:rPr lang="en-US" sz="2000" dirty="0"/>
              <a:t>Moderate temperature increases bike usage. </a:t>
            </a:r>
          </a:p>
          <a:p>
            <a:r>
              <a:rPr lang="en-US" sz="2000" dirty="0"/>
              <a:t> </a:t>
            </a:r>
            <a:r>
              <a:rPr lang="en-US" sz="2000" b="1" dirty="0"/>
              <a:t>Weather Impact:</a:t>
            </a:r>
            <a:br>
              <a:rPr lang="en-US" sz="2000" dirty="0"/>
            </a:br>
            <a:r>
              <a:rPr lang="en-US" sz="2000" dirty="0"/>
              <a:t>Rainfall and snowfall </a:t>
            </a:r>
            <a:r>
              <a:rPr lang="en-US" sz="2000" b="1" dirty="0"/>
              <a:t>reduce bike rentals significantly</a:t>
            </a:r>
            <a:r>
              <a:rPr lang="en-US" sz="2000" dirty="0"/>
              <a:t>. </a:t>
            </a:r>
          </a:p>
          <a:p>
            <a:r>
              <a:rPr lang="en-US" sz="2000" dirty="0"/>
              <a:t> </a:t>
            </a:r>
            <a:r>
              <a:rPr lang="en-US" sz="2000" b="1" dirty="0"/>
              <a:t>Seasonal Trend:</a:t>
            </a:r>
            <a:r>
              <a:rPr lang="en-US" sz="2000" dirty="0"/>
              <a:t> </a:t>
            </a:r>
          </a:p>
          <a:p>
            <a:pPr lvl="1"/>
            <a:r>
              <a:rPr lang="en-US" sz="1800" b="1" dirty="0"/>
              <a:t>Summer &amp; Autumn → High demand</a:t>
            </a:r>
            <a:r>
              <a:rPr lang="en-US" sz="1800" dirty="0"/>
              <a:t> </a:t>
            </a:r>
          </a:p>
          <a:p>
            <a:pPr lvl="1"/>
            <a:r>
              <a:rPr lang="en-US" sz="1800" b="1" dirty="0"/>
              <a:t>Winter → Low demand</a:t>
            </a:r>
            <a:r>
              <a:rPr lang="en-US" sz="1800" dirty="0"/>
              <a:t> </a:t>
            </a:r>
          </a:p>
          <a:p>
            <a:r>
              <a:rPr lang="en-US" sz="2000" dirty="0"/>
              <a:t> </a:t>
            </a:r>
            <a:r>
              <a:rPr lang="en-US" sz="2000" b="1" dirty="0"/>
              <a:t>Holiday Effect:</a:t>
            </a:r>
            <a:br>
              <a:rPr lang="en-US" sz="2000" dirty="0"/>
            </a:br>
            <a:r>
              <a:rPr lang="en-US" sz="2000" dirty="0"/>
              <a:t>Rentals are </a:t>
            </a:r>
            <a:r>
              <a:rPr lang="en-US" sz="2000" b="1" dirty="0"/>
              <a:t>higher on working days</a:t>
            </a:r>
            <a:r>
              <a:rPr lang="en-US" sz="2000" dirty="0"/>
              <a:t> compared to holidays.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72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B01F-3397-DD48-B5BD-AB71719D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929" y="720543"/>
            <a:ext cx="9603275" cy="1213188"/>
          </a:xfrm>
        </p:spPr>
        <p:txBody>
          <a:bodyPr>
            <a:normAutofit fontScale="90000"/>
          </a:bodyPr>
          <a:lstStyle/>
          <a:p>
            <a:pPr algn="ctr"/>
            <a:r>
              <a:rPr lang="en-IN" i="0" dirty="0">
                <a:effectLst/>
                <a:latin typeface="Arno Pro Caption" panose="02020502040506020403" pitchFamily="18" charset="0"/>
              </a:rPr>
              <a:t>Problem Statement</a:t>
            </a:r>
            <a:br>
              <a:rPr lang="en-IN" i="0" dirty="0">
                <a:effectLst/>
                <a:latin typeface="Arno Pro Caption" panose="02020502040506020403" pitchFamily="18" charset="0"/>
              </a:rPr>
            </a:br>
            <a:endParaRPr lang="en-IN" dirty="0">
              <a:latin typeface="Arno Pro Caption" panose="02020502040506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5B57-85C3-3A38-F01C-26AE1CBDB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85" y="1633928"/>
            <a:ext cx="10874115" cy="4543035"/>
          </a:xfrm>
        </p:spPr>
        <p:txBody>
          <a:bodyPr/>
          <a:lstStyle/>
          <a:p>
            <a:r>
              <a:rPr lang="en-US" dirty="0"/>
              <a:t>The goal of this project is to </a:t>
            </a:r>
            <a:r>
              <a:rPr lang="en-US" b="1" dirty="0"/>
              <a:t>analyze and predict bike rental demand</a:t>
            </a:r>
            <a:r>
              <a:rPr lang="en-US" dirty="0"/>
              <a:t> using historical data from the Seoul bike sharing system.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Bike rental demand varies based on multiple factors such as </a:t>
            </a:r>
            <a:r>
              <a:rPr lang="en-US" b="1" dirty="0"/>
              <a:t>time of day, weather conditions, seasons, and holidays</a:t>
            </a:r>
            <a:r>
              <a:rPr lang="en-US" dirty="0"/>
              <a:t>. Accurately predicting this demand is important to ensure </a:t>
            </a:r>
            <a:r>
              <a:rPr lang="en-US" b="1" dirty="0"/>
              <a:t>optimal bike availability</a:t>
            </a:r>
            <a:r>
              <a:rPr lang="en-US" dirty="0"/>
              <a:t>, reduce shortages, and improve user satisfaction</a:t>
            </a:r>
          </a:p>
          <a:p>
            <a:endParaRPr lang="en-US" b="1" i="0" dirty="0">
              <a:effectLst/>
              <a:latin typeface="Arno Pro Display" panose="020205020505060204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26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18" y="310782"/>
            <a:ext cx="11180164" cy="62364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13" y="187447"/>
            <a:ext cx="11622374" cy="6483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B62810-FB21-B517-577C-D754D0EDE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9" y="430502"/>
            <a:ext cx="10238282" cy="599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206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12" y="443592"/>
            <a:ext cx="10089629" cy="56281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D65255-9F33-6913-369C-EBA0D08C2CB8}"/>
              </a:ext>
            </a:extLst>
          </p:cNvPr>
          <p:cNvSpPr txBox="1"/>
          <p:nvPr/>
        </p:nvSpPr>
        <p:spPr>
          <a:xfrm>
            <a:off x="674557" y="929391"/>
            <a:ext cx="88741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Filtering Insights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Rentals demand when Temperature &gt; 25°C which increase in bike rentals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Rental Drop During Rainfall &amp; Snowfall When Rainfall &gt; 0 which decrease in bike rentals</a:t>
            </a: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Snowfall &gt; 0 Winter Season Shows Low Demand which lowest demand period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81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C042107-BFA1-08AB-4EA6-25715894BC17}"/>
              </a:ext>
            </a:extLst>
          </p:cNvPr>
          <p:cNvSpPr txBox="1"/>
          <p:nvPr/>
        </p:nvSpPr>
        <p:spPr>
          <a:xfrm>
            <a:off x="5656288" y="1913272"/>
            <a:ext cx="62865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From the Bar chart: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Winter (~230 rentals)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Lowest demand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Cold weather + snowfall reduces usage significantly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 Spring (~730 rentals)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Moderate increase in demand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Comfortable weather encourages usage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Summer (~1030 rentals)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/>
              <a:t>Highest demand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Warm temperature → peak bike usage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 Autumn (~820 rentals)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Slight drop from summer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Still strong demand due to mild weather </a:t>
            </a:r>
          </a:p>
          <a:p>
            <a:pPr>
              <a:buNone/>
            </a:pPr>
            <a:r>
              <a:rPr lang="en-US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CDC5C4-B436-2BDF-DB73-D925DB3EB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90840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Data Visualization</a:t>
            </a:r>
            <a:br>
              <a:rPr lang="en-IN" dirty="0"/>
            </a:br>
            <a:r>
              <a:rPr lang="en-IN" sz="3600" dirty="0"/>
              <a:t>Seasonwise Bike Rental insights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C0F7B5-2A44-E9C7-214D-7CC531584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9" y="1913272"/>
            <a:ext cx="5580330" cy="457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10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47C6-6AE0-6EAB-3FB7-A81AB25C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3EED46-6CC8-CFA4-0015-1E428E4610BC}"/>
              </a:ext>
            </a:extLst>
          </p:cNvPr>
          <p:cNvSpPr txBox="1"/>
          <p:nvPr/>
        </p:nvSpPr>
        <p:spPr>
          <a:xfrm>
            <a:off x="6096000" y="1469037"/>
            <a:ext cx="653571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From the Bar chart: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Jan–Feb (Months 1–2)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      Very low rentals (~150K–180K)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      Peak winter → lowest demand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Mar–May (Months 3–5)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      Strong growth (~380K → 700K)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      Transition to pleasant weather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June (Month 6)</a:t>
            </a:r>
            <a:r>
              <a:rPr lang="en-IN" dirty="0"/>
              <a:t> 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/>
              <a:t>      Peak demand (~900K)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      Ideal temperature → highest rentals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Jul–Oct (Months 7–10)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      Slight decline but still high (~650K–750K)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      Possible rainfall impact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Nov–Dec (Months 11–12)</a:t>
            </a:r>
            <a:r>
              <a:rPr lang="en-IN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      Sharp drop (~470K → 180K)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      Entry into winter season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9355CE-5570-B82D-E57F-FB34CC8F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34911"/>
            <a:ext cx="9692640" cy="112426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Data Visualization</a:t>
            </a:r>
            <a:br>
              <a:rPr lang="en-IN" dirty="0"/>
            </a:br>
            <a:r>
              <a:rPr lang="en-IN" sz="3600" dirty="0" err="1"/>
              <a:t>Monthwise</a:t>
            </a:r>
            <a:r>
              <a:rPr lang="en-IN" sz="3600" dirty="0"/>
              <a:t> Bike Rental Insights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6A817EA-0A47-2379-6FDB-E6BA4A438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1" y="1913272"/>
            <a:ext cx="5566504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980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58ED-F2BF-EA8A-2645-89EE61D99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77EA8A-EE8F-6ABB-816F-83CBF0785615}"/>
              </a:ext>
            </a:extLst>
          </p:cNvPr>
          <p:cNvSpPr txBox="1"/>
          <p:nvPr/>
        </p:nvSpPr>
        <p:spPr>
          <a:xfrm>
            <a:off x="6096000" y="1469037"/>
            <a:ext cx="65357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From the Pie chart: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Non-Holiday (58.9% rentals)</a:t>
            </a:r>
            <a:r>
              <a:rPr lang="en-IN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Higher bike usage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Driven by daily commuting (office, school, routine travel)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 Holiday (41.1%  rentals)</a:t>
            </a:r>
            <a:r>
              <a:rPr lang="en-IN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Lower bike usage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Reduced commuting → fewer rentals </a:t>
            </a:r>
          </a:p>
          <a:p>
            <a:pPr lvl="1"/>
            <a:endParaRPr lang="en-IN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430926-7E57-ED6E-D1C0-9116DE9B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34911"/>
            <a:ext cx="9692640" cy="11242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Data Visualization</a:t>
            </a:r>
            <a:br>
              <a:rPr lang="en-IN" dirty="0"/>
            </a:br>
            <a:r>
              <a:rPr lang="en-IN" sz="2800" dirty="0"/>
              <a:t>Holiday VS Non Holiday Rental Insights</a:t>
            </a:r>
            <a:endParaRPr lang="en-IN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57299AC2-BAA8-B678-626C-07F01626B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94" y="1980029"/>
            <a:ext cx="3848100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6928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F0AB-67D3-4BBA-7099-CD6A77349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D705D4-3559-EF0C-9CFE-76BC725C52D2}"/>
              </a:ext>
            </a:extLst>
          </p:cNvPr>
          <p:cNvSpPr txBox="1"/>
          <p:nvPr/>
        </p:nvSpPr>
        <p:spPr>
          <a:xfrm>
            <a:off x="6457462" y="1588958"/>
            <a:ext cx="4497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From the Line chart:</a:t>
            </a:r>
          </a:p>
          <a:p>
            <a:pPr>
              <a:buNone/>
            </a:pPr>
            <a:endParaRPr lang="en-US" dirty="0"/>
          </a:p>
          <a:p>
            <a:pPr lvl="1"/>
            <a:endParaRPr lang="en-IN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8DC2B3-8E75-0346-230F-F6DA4D46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34911"/>
            <a:ext cx="9692640" cy="112426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Data Visualization</a:t>
            </a:r>
            <a:br>
              <a:rPr lang="en-IN" dirty="0"/>
            </a:br>
            <a:r>
              <a:rPr lang="en-IN" sz="3600" dirty="0"/>
              <a:t>Bike Usage by hour (Commute Pattern)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CCD31FB-2B2E-8F91-390F-BAE8BB1F5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35" y="2240371"/>
            <a:ext cx="5960032" cy="326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4E7BAD-4DFE-6555-253A-D689231F7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991016"/>
              </p:ext>
            </p:extLst>
          </p:nvPr>
        </p:nvGraphicFramePr>
        <p:xfrm>
          <a:off x="6595672" y="2240371"/>
          <a:ext cx="5336498" cy="34287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8977">
                  <a:extLst>
                    <a:ext uri="{9D8B030D-6E8A-4147-A177-3AD203B41FA5}">
                      <a16:colId xmlns:a16="http://schemas.microsoft.com/office/drawing/2014/main" val="1845468189"/>
                    </a:ext>
                  </a:extLst>
                </a:gridCol>
                <a:gridCol w="1449176">
                  <a:extLst>
                    <a:ext uri="{9D8B030D-6E8A-4147-A177-3AD203B41FA5}">
                      <a16:colId xmlns:a16="http://schemas.microsoft.com/office/drawing/2014/main" val="3863771432"/>
                    </a:ext>
                  </a:extLst>
                </a:gridCol>
                <a:gridCol w="2328345">
                  <a:extLst>
                    <a:ext uri="{9D8B030D-6E8A-4147-A177-3AD203B41FA5}">
                      <a16:colId xmlns:a16="http://schemas.microsoft.com/office/drawing/2014/main" val="3198385940"/>
                    </a:ext>
                  </a:extLst>
                </a:gridCol>
              </a:tblGrid>
              <a:tr h="759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Metric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Hour (24h)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Approx. Bike Count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7581611"/>
                  </a:ext>
                </a:extLst>
              </a:tr>
              <a:tr h="759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Daily High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18 (6:00 PM)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15969818"/>
                  </a:ext>
                </a:extLst>
              </a:tr>
              <a:tr h="759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Morning High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 (8:00 AM)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87632347"/>
                  </a:ext>
                </a:extLst>
              </a:tr>
              <a:tr h="3911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Daily Low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(4:00 AM)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200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7587870"/>
                  </a:ext>
                </a:extLst>
              </a:tr>
              <a:tr h="759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Mid-day Average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(12:00 PM)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6448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367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E3C00-5172-CC18-D15F-4BFD87492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BEA1A5-CC17-0F3C-03F3-5AF0FD4C496D}"/>
              </a:ext>
            </a:extLst>
          </p:cNvPr>
          <p:cNvSpPr txBox="1"/>
          <p:nvPr/>
        </p:nvSpPr>
        <p:spPr>
          <a:xfrm>
            <a:off x="6096000" y="1469037"/>
            <a:ext cx="65357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From the Scatter chart: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lvl="1"/>
            <a:endParaRPr lang="en-IN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0E5832-45E3-E064-21E9-4F77C022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34911"/>
            <a:ext cx="9692640" cy="11242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Data Visualization</a:t>
            </a:r>
            <a:br>
              <a:rPr lang="en-IN" dirty="0"/>
            </a:br>
            <a:r>
              <a:rPr lang="en-IN" sz="2800" dirty="0" err="1"/>
              <a:t>Temprature</a:t>
            </a:r>
            <a:r>
              <a:rPr lang="en-IN" sz="2800" dirty="0"/>
              <a:t> VS Bike Rental Insights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C37F145-0310-9A2C-29CB-FF031E854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2" y="1967742"/>
            <a:ext cx="6169624" cy="45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196546-E195-673A-1F88-394CC7947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796667"/>
              </p:ext>
            </p:extLst>
          </p:nvPr>
        </p:nvGraphicFramePr>
        <p:xfrm>
          <a:off x="6550704" y="1967742"/>
          <a:ext cx="5446424" cy="46366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3809">
                  <a:extLst>
                    <a:ext uri="{9D8B030D-6E8A-4147-A177-3AD203B41FA5}">
                      <a16:colId xmlns:a16="http://schemas.microsoft.com/office/drawing/2014/main" val="818794255"/>
                    </a:ext>
                  </a:extLst>
                </a:gridCol>
                <a:gridCol w="1573966">
                  <a:extLst>
                    <a:ext uri="{9D8B030D-6E8A-4147-A177-3AD203B41FA5}">
                      <a16:colId xmlns:a16="http://schemas.microsoft.com/office/drawing/2014/main" val="22468276"/>
                    </a:ext>
                  </a:extLst>
                </a:gridCol>
                <a:gridCol w="2058649">
                  <a:extLst>
                    <a:ext uri="{9D8B030D-6E8A-4147-A177-3AD203B41FA5}">
                      <a16:colId xmlns:a16="http://schemas.microsoft.com/office/drawing/2014/main" val="3429405540"/>
                    </a:ext>
                  </a:extLst>
                </a:gridCol>
              </a:tblGrid>
              <a:tr h="4078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Temperature Range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Rental Activity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Observations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1315081"/>
                  </a:ext>
                </a:extLst>
              </a:tr>
              <a:tr h="8341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Below 0°C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Very Low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When it's freezing outside, very few people rent bike</a:t>
                      </a:r>
                      <a:r>
                        <a:rPr lang="en-IN" sz="1200" kern="100" dirty="0">
                          <a:effectLst/>
                        </a:rPr>
                        <a:t>s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8600462"/>
                  </a:ext>
                </a:extLst>
              </a:tr>
              <a:tr h="12608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0°C to 15°C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Moderate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As the weather starts to warm up, more and more people begin to rent bikes</a:t>
                      </a:r>
                      <a:r>
                        <a:rPr lang="en-IN" sz="1200" kern="100" dirty="0">
                          <a:effectLst/>
                        </a:rPr>
                        <a:t>.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4587413"/>
                  </a:ext>
                </a:extLst>
              </a:tr>
              <a:tr h="12608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20°C to 30°C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Peak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Maximum demand; most data points are concentrated here</a:t>
                      </a:r>
                      <a:r>
                        <a:rPr lang="en-IN" sz="1200" kern="100" dirty="0">
                          <a:effectLst/>
                        </a:rPr>
                        <a:t>.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9345438"/>
                  </a:ext>
                </a:extLst>
              </a:tr>
              <a:tr h="8341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Above 35°C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Declining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A noticeable drop-off as it becomes "too hot."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5228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654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DA78-D601-3329-AE5A-CB2F024E8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DC84AB-D8AC-0379-88D5-C140677DA3D9}"/>
              </a:ext>
            </a:extLst>
          </p:cNvPr>
          <p:cNvSpPr txBox="1"/>
          <p:nvPr/>
        </p:nvSpPr>
        <p:spPr>
          <a:xfrm>
            <a:off x="6096000" y="1469037"/>
            <a:ext cx="65357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From the Histogram chart: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lvl="1"/>
            <a:endParaRPr lang="en-IN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EF8C80-2D73-813A-726F-9387DF97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34911"/>
            <a:ext cx="9692640" cy="11242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Data Visualization</a:t>
            </a:r>
            <a:br>
              <a:rPr lang="en-IN" dirty="0"/>
            </a:br>
            <a:r>
              <a:rPr lang="en-IN" sz="2800" dirty="0"/>
              <a:t>Frequency VS Bike Rental Insights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235168-F8BD-76F8-541A-590E7C208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058593"/>
              </p:ext>
            </p:extLst>
          </p:nvPr>
        </p:nvGraphicFramePr>
        <p:xfrm>
          <a:off x="5891134" y="1902955"/>
          <a:ext cx="5486400" cy="37333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24840">
                  <a:extLst>
                    <a:ext uri="{9D8B030D-6E8A-4147-A177-3AD203B41FA5}">
                      <a16:colId xmlns:a16="http://schemas.microsoft.com/office/drawing/2014/main" val="938228763"/>
                    </a:ext>
                  </a:extLst>
                </a:gridCol>
                <a:gridCol w="2761560">
                  <a:extLst>
                    <a:ext uri="{9D8B030D-6E8A-4147-A177-3AD203B41FA5}">
                      <a16:colId xmlns:a16="http://schemas.microsoft.com/office/drawing/2014/main" val="305819671"/>
                    </a:ext>
                  </a:extLst>
                </a:gridCol>
              </a:tblGrid>
              <a:tr h="7866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Rental Count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Frequency (How often it happens)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185382386"/>
                  </a:ext>
                </a:extLst>
              </a:tr>
              <a:tr h="7866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0 – 500 bikes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Very High: This is the most typical situation.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512399389"/>
                  </a:ext>
                </a:extLst>
              </a:tr>
              <a:tr h="72454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 – 1,500 bikes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Moderate: These counts happen often, but less than the low counts.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673158919"/>
                  </a:ext>
                </a:extLst>
              </a:tr>
              <a:tr h="76098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 – 2,500 bikes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Low: It is much less common to see rentals in this high range.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97370480"/>
                  </a:ext>
                </a:extLst>
              </a:tr>
              <a:tr h="6745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Over 2,500 bikes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Rare: These "peak" events almost never happen.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076022222"/>
                  </a:ext>
                </a:extLst>
              </a:tr>
            </a:tbl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0A25A758-268A-C6A8-4889-D14A75DA9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738062"/>
            <a:ext cx="5799672" cy="421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763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CF90A-C501-8B63-288D-F17EA9DA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B82CD-F368-C402-968A-1CE66438E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360" y="2248525"/>
            <a:ext cx="10732958" cy="4351337"/>
          </a:xfrm>
        </p:spPr>
        <p:txBody>
          <a:bodyPr>
            <a:normAutofit/>
          </a:bodyPr>
          <a:lstStyle/>
          <a:p>
            <a:r>
              <a:rPr lang="en-US" sz="2800" dirty="0"/>
              <a:t>Peak demand during commuting hours</a:t>
            </a:r>
          </a:p>
          <a:p>
            <a:r>
              <a:rPr lang="en-US" sz="2800" dirty="0"/>
              <a:t>Summer season has highest rentals</a:t>
            </a:r>
          </a:p>
          <a:p>
            <a:r>
              <a:rPr lang="en-US" sz="2800" dirty="0"/>
              <a:t>Rain &amp; snow reduce usage</a:t>
            </a:r>
          </a:p>
          <a:p>
            <a:r>
              <a:rPr lang="en-US" sz="2800" dirty="0"/>
              <a:t>Temperature positively affects demand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7390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ED01B-8970-7883-4121-8BD3BA047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BF15-D2B4-5BA0-2BA5-5AE5F1C5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Business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0E0A1-6C91-73A3-19F8-B1FF6A098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360" y="2248525"/>
            <a:ext cx="10732958" cy="4351337"/>
          </a:xfrm>
        </p:spPr>
        <p:txBody>
          <a:bodyPr>
            <a:normAutofit/>
          </a:bodyPr>
          <a:lstStyle/>
          <a:p>
            <a:r>
              <a:rPr lang="en-US" sz="2800" dirty="0"/>
              <a:t>Increase bikes during peak hours</a:t>
            </a:r>
          </a:p>
          <a:p>
            <a:r>
              <a:rPr lang="en-US" sz="2800" dirty="0"/>
              <a:t>Add more bikes in summer</a:t>
            </a:r>
          </a:p>
          <a:p>
            <a:r>
              <a:rPr lang="en-US" sz="2800" dirty="0"/>
              <a:t>Reduce operations in extreme weather</a:t>
            </a:r>
          </a:p>
          <a:p>
            <a:r>
              <a:rPr lang="en-US" sz="2800" dirty="0"/>
              <a:t>Introduce offers during low-demand periods</a:t>
            </a:r>
          </a:p>
        </p:txBody>
      </p:sp>
    </p:spTree>
    <p:extLst>
      <p:ext uri="{BB962C8B-B14F-4D97-AF65-F5344CB8AC3E}">
        <p14:creationId xmlns:p14="http://schemas.microsoft.com/office/powerpoint/2010/main" val="3275946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155E4-5E0F-C899-3AAB-A5CB5A867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3E22B-F8D1-5F95-F669-9AD9EDC6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04A67-47EB-AFB4-D0B8-31A8DE1A6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360" y="2248525"/>
            <a:ext cx="10732958" cy="4351337"/>
          </a:xfrm>
        </p:spPr>
        <p:txBody>
          <a:bodyPr>
            <a:normAutofit/>
          </a:bodyPr>
          <a:lstStyle/>
          <a:p>
            <a:r>
              <a:rPr lang="en-US" sz="2800" dirty="0"/>
              <a:t>Strong relationship between weather &amp; bike demand</a:t>
            </a:r>
          </a:p>
          <a:p>
            <a:endParaRPr lang="en-US" sz="2800" dirty="0"/>
          </a:p>
          <a:p>
            <a:r>
              <a:rPr lang="en-US" sz="2800" dirty="0"/>
              <a:t>Time and season are key factors</a:t>
            </a:r>
          </a:p>
          <a:p>
            <a:endParaRPr lang="en-US" sz="2800" dirty="0"/>
          </a:p>
          <a:p>
            <a:r>
              <a:rPr lang="en-US" sz="2800" dirty="0"/>
              <a:t>Data-driven decisions can improve efficiency</a:t>
            </a:r>
          </a:p>
        </p:txBody>
      </p:sp>
    </p:spTree>
    <p:extLst>
      <p:ext uri="{BB962C8B-B14F-4D97-AF65-F5344CB8AC3E}">
        <p14:creationId xmlns:p14="http://schemas.microsoft.com/office/powerpoint/2010/main" val="974305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1C7C-E226-8876-7E9E-940A20F22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7A8F1-8ABA-3D49-1CA4-FC6965BE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360" y="2248525"/>
            <a:ext cx="10732958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2515059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201</TotalTime>
  <Words>775</Words>
  <Application>Microsoft Office PowerPoint</Application>
  <PresentationFormat>Widescreen</PresentationFormat>
  <Paragraphs>152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Arial</vt:lpstr>
      <vt:lpstr>Arno Pro</vt:lpstr>
      <vt:lpstr>Arno Pro Caption</vt:lpstr>
      <vt:lpstr>Arno Pro Display</vt:lpstr>
      <vt:lpstr>Century Schoolbook</vt:lpstr>
      <vt:lpstr>Wingdings</vt:lpstr>
      <vt:lpstr>Wingdings 2</vt:lpstr>
      <vt:lpstr>View</vt:lpstr>
      <vt:lpstr> </vt:lpstr>
      <vt:lpstr>Summary of my project</vt:lpstr>
      <vt:lpstr>Problem Statement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Visualization Seasonwise Bike Rental insights</vt:lpstr>
      <vt:lpstr>Data Visualization Monthwise Bike Rental Insights</vt:lpstr>
      <vt:lpstr>Data Visualization Holiday VS Non Holiday Rental Insights</vt:lpstr>
      <vt:lpstr>Data Visualization Bike Usage by hour (Commute Pattern)</vt:lpstr>
      <vt:lpstr>Data Visualization Temprature VS Bike Rental Insights</vt:lpstr>
      <vt:lpstr>Data Visualization Frequency VS Bike Rental Insights</vt:lpstr>
      <vt:lpstr>Key Insights</vt:lpstr>
      <vt:lpstr>Business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SHRADDHA</dc:creator>
  <cp:lastModifiedBy>SHRADDHA</cp:lastModifiedBy>
  <cp:revision>9</cp:revision>
  <dcterms:created xsi:type="dcterms:W3CDTF">2026-04-11T18:55:22Z</dcterms:created>
  <dcterms:modified xsi:type="dcterms:W3CDTF">2026-04-12T08:19:46Z</dcterms:modified>
</cp:coreProperties>
</file>